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Wide Bold" charset="1" panose="00000805000000000000"/>
      <p:regular r:id="rId14"/>
    </p:embeddedFont>
    <p:embeddedFont>
      <p:font typeface="Nunito" charset="1" panose="00000000000000000000"/>
      <p:regular r:id="rId15"/>
    </p:embeddedFont>
    <p:embeddedFont>
      <p:font typeface="Nunito Bold" charset="1" panose="00000000000000000000"/>
      <p:regular r:id="rId16"/>
    </p:embeddedFont>
    <p:embeddedFont>
      <p:font typeface="Nunito Bold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631" y="6353020"/>
            <a:ext cx="9008767" cy="875133"/>
            <a:chOff x="0" y="0"/>
            <a:chExt cx="2372679" cy="2304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2679" cy="230488"/>
            </a:xfrm>
            <a:custGeom>
              <a:avLst/>
              <a:gdLst/>
              <a:ahLst/>
              <a:cxnLst/>
              <a:rect r="r" b="b" t="t" l="l"/>
              <a:pathLst>
                <a:path h="230488" w="2372679">
                  <a:moveTo>
                    <a:pt x="85938" y="0"/>
                  </a:moveTo>
                  <a:lnTo>
                    <a:pt x="2286742" y="0"/>
                  </a:lnTo>
                  <a:cubicBezTo>
                    <a:pt x="2309534" y="0"/>
                    <a:pt x="2331392" y="9054"/>
                    <a:pt x="2347509" y="25171"/>
                  </a:cubicBezTo>
                  <a:cubicBezTo>
                    <a:pt x="2363625" y="41287"/>
                    <a:pt x="2372679" y="63146"/>
                    <a:pt x="2372679" y="85938"/>
                  </a:cubicBezTo>
                  <a:lnTo>
                    <a:pt x="2372679" y="144550"/>
                  </a:lnTo>
                  <a:cubicBezTo>
                    <a:pt x="2372679" y="192012"/>
                    <a:pt x="2334204" y="230488"/>
                    <a:pt x="2286742" y="230488"/>
                  </a:cubicBezTo>
                  <a:lnTo>
                    <a:pt x="85938" y="230488"/>
                  </a:lnTo>
                  <a:cubicBezTo>
                    <a:pt x="38476" y="230488"/>
                    <a:pt x="0" y="192012"/>
                    <a:pt x="0" y="144550"/>
                  </a:cubicBezTo>
                  <a:lnTo>
                    <a:pt x="0" y="85938"/>
                  </a:lnTo>
                  <a:cubicBezTo>
                    <a:pt x="0" y="38476"/>
                    <a:pt x="38476" y="0"/>
                    <a:pt x="85938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372679" cy="325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74156" y="748343"/>
            <a:ext cx="4423782" cy="1539123"/>
          </a:xfrm>
          <a:custGeom>
            <a:avLst/>
            <a:gdLst/>
            <a:ahLst/>
            <a:cxnLst/>
            <a:rect r="r" b="b" t="t" l="l"/>
            <a:pathLst>
              <a:path h="1539123" w="4423782">
                <a:moveTo>
                  <a:pt x="0" y="0"/>
                </a:moveTo>
                <a:lnTo>
                  <a:pt x="4423782" y="0"/>
                </a:lnTo>
                <a:lnTo>
                  <a:pt x="4423782" y="1539122"/>
                </a:lnTo>
                <a:lnTo>
                  <a:pt x="0" y="1539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93" t="-145372" r="-13375" b="-12014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2631" y="2853407"/>
            <a:ext cx="11857109" cy="33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INTERNSHIP</a:t>
            </a:r>
          </a:p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971" y="6459862"/>
            <a:ext cx="9729272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ON-PREMISE RAG AND AGENTIC SOLUTIONS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2631" y="681668"/>
            <a:ext cx="763472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CARNOT RESEARCH Pvt Ltd, IIT Delhi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631" y="7771078"/>
            <a:ext cx="10064542" cy="170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 MUDIT AGRAWAL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B.Tech CSE(AI/ML) | 2026-27 | 4CSE1 | CS-2341718</a:t>
            </a:r>
          </a:p>
          <a:p>
            <a:pPr algn="l">
              <a:lnSpc>
                <a:spcPts val="45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82631" y="1775244"/>
            <a:ext cx="5181358" cy="70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IILM UNIVERSITY, 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217151"/>
            <a:ext cx="3514614" cy="838151"/>
            <a:chOff x="0" y="0"/>
            <a:chExt cx="925660" cy="2207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5660" cy="220747"/>
            </a:xfrm>
            <a:custGeom>
              <a:avLst/>
              <a:gdLst/>
              <a:ahLst/>
              <a:cxnLst/>
              <a:rect r="r" b="b" t="t" l="l"/>
              <a:pathLst>
                <a:path h="220747" w="925660">
                  <a:moveTo>
                    <a:pt x="110374" y="0"/>
                  </a:moveTo>
                  <a:lnTo>
                    <a:pt x="815286" y="0"/>
                  </a:lnTo>
                  <a:cubicBezTo>
                    <a:pt x="844559" y="0"/>
                    <a:pt x="872633" y="11629"/>
                    <a:pt x="893332" y="32328"/>
                  </a:cubicBezTo>
                  <a:cubicBezTo>
                    <a:pt x="914031" y="53027"/>
                    <a:pt x="925660" y="81101"/>
                    <a:pt x="925660" y="110374"/>
                  </a:cubicBezTo>
                  <a:lnTo>
                    <a:pt x="925660" y="110374"/>
                  </a:lnTo>
                  <a:cubicBezTo>
                    <a:pt x="925660" y="139647"/>
                    <a:pt x="914031" y="167721"/>
                    <a:pt x="893332" y="188420"/>
                  </a:cubicBezTo>
                  <a:cubicBezTo>
                    <a:pt x="872633" y="209119"/>
                    <a:pt x="844559" y="220747"/>
                    <a:pt x="815286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925660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63316" y="3270215"/>
            <a:ext cx="1523889" cy="838151"/>
            <a:chOff x="0" y="0"/>
            <a:chExt cx="401353" cy="220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353" cy="220747"/>
            </a:xfrm>
            <a:custGeom>
              <a:avLst/>
              <a:gdLst/>
              <a:ahLst/>
              <a:cxnLst/>
              <a:rect r="r" b="b" t="t" l="l"/>
              <a:pathLst>
                <a:path h="220747" w="401353">
                  <a:moveTo>
                    <a:pt x="110374" y="0"/>
                  </a:moveTo>
                  <a:lnTo>
                    <a:pt x="290980" y="0"/>
                  </a:lnTo>
                  <a:cubicBezTo>
                    <a:pt x="320253" y="0"/>
                    <a:pt x="348327" y="11629"/>
                    <a:pt x="369026" y="32328"/>
                  </a:cubicBezTo>
                  <a:cubicBezTo>
                    <a:pt x="389725" y="53027"/>
                    <a:pt x="401353" y="81101"/>
                    <a:pt x="401353" y="110374"/>
                  </a:cubicBezTo>
                  <a:lnTo>
                    <a:pt x="401353" y="110374"/>
                  </a:lnTo>
                  <a:cubicBezTo>
                    <a:pt x="401353" y="139647"/>
                    <a:pt x="389725" y="167721"/>
                    <a:pt x="369026" y="188420"/>
                  </a:cubicBezTo>
                  <a:cubicBezTo>
                    <a:pt x="348327" y="209119"/>
                    <a:pt x="320253" y="220747"/>
                    <a:pt x="290980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01353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8415" y="3270215"/>
            <a:ext cx="2083631" cy="785087"/>
            <a:chOff x="0" y="0"/>
            <a:chExt cx="548775" cy="2067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775" cy="206772"/>
            </a:xfrm>
            <a:custGeom>
              <a:avLst/>
              <a:gdLst/>
              <a:ahLst/>
              <a:cxnLst/>
              <a:rect r="r" b="b" t="t" l="l"/>
              <a:pathLst>
                <a:path h="206772" w="548775">
                  <a:moveTo>
                    <a:pt x="103386" y="0"/>
                  </a:moveTo>
                  <a:lnTo>
                    <a:pt x="445389" y="0"/>
                  </a:lnTo>
                  <a:cubicBezTo>
                    <a:pt x="472809" y="0"/>
                    <a:pt x="499106" y="10892"/>
                    <a:pt x="518494" y="30281"/>
                  </a:cubicBezTo>
                  <a:cubicBezTo>
                    <a:pt x="537883" y="49670"/>
                    <a:pt x="548775" y="75966"/>
                    <a:pt x="548775" y="103386"/>
                  </a:cubicBezTo>
                  <a:lnTo>
                    <a:pt x="548775" y="103386"/>
                  </a:lnTo>
                  <a:cubicBezTo>
                    <a:pt x="548775" y="130806"/>
                    <a:pt x="537883" y="157102"/>
                    <a:pt x="518494" y="176491"/>
                  </a:cubicBezTo>
                  <a:cubicBezTo>
                    <a:pt x="499106" y="195879"/>
                    <a:pt x="472809" y="206772"/>
                    <a:pt x="445389" y="206772"/>
                  </a:cubicBezTo>
                  <a:lnTo>
                    <a:pt x="103386" y="206772"/>
                  </a:lnTo>
                  <a:cubicBezTo>
                    <a:pt x="75966" y="206772"/>
                    <a:pt x="49670" y="195879"/>
                    <a:pt x="30281" y="176491"/>
                  </a:cubicBezTo>
                  <a:cubicBezTo>
                    <a:pt x="10892" y="157102"/>
                    <a:pt x="0" y="130806"/>
                    <a:pt x="0" y="103386"/>
                  </a:cubicBezTo>
                  <a:lnTo>
                    <a:pt x="0" y="103386"/>
                  </a:lnTo>
                  <a:cubicBezTo>
                    <a:pt x="0" y="75966"/>
                    <a:pt x="10892" y="49670"/>
                    <a:pt x="30281" y="30281"/>
                  </a:cubicBezTo>
                  <a:cubicBezTo>
                    <a:pt x="49670" y="10892"/>
                    <a:pt x="75966" y="0"/>
                    <a:pt x="10338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548775" cy="30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96322" y="3216313"/>
            <a:ext cx="1458861" cy="838151"/>
            <a:chOff x="0" y="0"/>
            <a:chExt cx="384227" cy="2207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227" cy="220747"/>
            </a:xfrm>
            <a:custGeom>
              <a:avLst/>
              <a:gdLst/>
              <a:ahLst/>
              <a:cxnLst/>
              <a:rect r="r" b="b" t="t" l="l"/>
              <a:pathLst>
                <a:path h="220747" w="384227">
                  <a:moveTo>
                    <a:pt x="110374" y="0"/>
                  </a:moveTo>
                  <a:lnTo>
                    <a:pt x="273853" y="0"/>
                  </a:lnTo>
                  <a:cubicBezTo>
                    <a:pt x="303126" y="0"/>
                    <a:pt x="331200" y="11629"/>
                    <a:pt x="351899" y="32328"/>
                  </a:cubicBezTo>
                  <a:cubicBezTo>
                    <a:pt x="372598" y="53027"/>
                    <a:pt x="384227" y="81101"/>
                    <a:pt x="384227" y="110374"/>
                  </a:cubicBezTo>
                  <a:lnTo>
                    <a:pt x="384227" y="110374"/>
                  </a:lnTo>
                  <a:cubicBezTo>
                    <a:pt x="384227" y="139647"/>
                    <a:pt x="372598" y="167721"/>
                    <a:pt x="351899" y="188420"/>
                  </a:cubicBezTo>
                  <a:cubicBezTo>
                    <a:pt x="331200" y="209119"/>
                    <a:pt x="303126" y="220747"/>
                    <a:pt x="273853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384227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06803" y="6447685"/>
            <a:ext cx="2297868" cy="2297868"/>
          </a:xfrm>
          <a:custGeom>
            <a:avLst/>
            <a:gdLst/>
            <a:ahLst/>
            <a:cxnLst/>
            <a:rect r="r" b="b" t="t" l="l"/>
            <a:pathLst>
              <a:path h="2297868" w="2297868">
                <a:moveTo>
                  <a:pt x="0" y="0"/>
                </a:moveTo>
                <a:lnTo>
                  <a:pt x="2297868" y="0"/>
                </a:lnTo>
                <a:lnTo>
                  <a:pt x="2297868" y="2297869"/>
                </a:lnTo>
                <a:lnTo>
                  <a:pt x="0" y="2297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88415" y="6456388"/>
            <a:ext cx="2340087" cy="2340087"/>
          </a:xfrm>
          <a:custGeom>
            <a:avLst/>
            <a:gdLst/>
            <a:ahLst/>
            <a:cxnLst/>
            <a:rect r="r" b="b" t="t" l="l"/>
            <a:pathLst>
              <a:path h="2340087" w="2340087">
                <a:moveTo>
                  <a:pt x="0" y="0"/>
                </a:moveTo>
                <a:lnTo>
                  <a:pt x="2340088" y="0"/>
                </a:lnTo>
                <a:lnTo>
                  <a:pt x="2340088" y="2340088"/>
                </a:lnTo>
                <a:lnTo>
                  <a:pt x="0" y="234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697690" y="6447685"/>
            <a:ext cx="2357493" cy="2357493"/>
          </a:xfrm>
          <a:custGeom>
            <a:avLst/>
            <a:gdLst/>
            <a:ahLst/>
            <a:cxnLst/>
            <a:rect r="r" b="b" t="t" l="l"/>
            <a:pathLst>
              <a:path h="2357493" w="2357493">
                <a:moveTo>
                  <a:pt x="0" y="0"/>
                </a:moveTo>
                <a:lnTo>
                  <a:pt x="2357494" y="0"/>
                </a:lnTo>
                <a:lnTo>
                  <a:pt x="2357494" y="2357494"/>
                </a:lnTo>
                <a:lnTo>
                  <a:pt x="0" y="235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19303" y="6900807"/>
            <a:ext cx="2357493" cy="2357493"/>
          </a:xfrm>
          <a:custGeom>
            <a:avLst/>
            <a:gdLst/>
            <a:ahLst/>
            <a:cxnLst/>
            <a:rect r="r" b="b" t="t" l="l"/>
            <a:pathLst>
              <a:path h="2357493" w="2357493">
                <a:moveTo>
                  <a:pt x="0" y="0"/>
                </a:moveTo>
                <a:lnTo>
                  <a:pt x="2357493" y="0"/>
                </a:lnTo>
                <a:lnTo>
                  <a:pt x="2357493" y="2357493"/>
                </a:lnTo>
                <a:lnTo>
                  <a:pt x="0" y="2357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06803" y="709426"/>
            <a:ext cx="14342641" cy="13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INTERNSHIP AT GLANCE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620" y="3323993"/>
            <a:ext cx="5053319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ORGANISATION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6524" y="4738490"/>
            <a:ext cx="5053319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Carnot Research Pvt Ltd - An IITD incubated startup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6919" y="3324832"/>
            <a:ext cx="1077667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ROLE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66611" y="3324832"/>
            <a:ext cx="166939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Duration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50826" y="4587385"/>
            <a:ext cx="279736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AI &amp; ML Intern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29219" y="4738490"/>
            <a:ext cx="305624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June 01 2026 to August 31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49444" y="3323993"/>
            <a:ext cx="1151633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Focus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14583" y="4474121"/>
            <a:ext cx="3689597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End-to-End On-Premise RAG and Agentic AI workflows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25254" y="3483247"/>
            <a:ext cx="4563065" cy="4563065"/>
          </a:xfrm>
          <a:custGeom>
            <a:avLst/>
            <a:gdLst/>
            <a:ahLst/>
            <a:cxnLst/>
            <a:rect r="r" b="b" t="t" l="l"/>
            <a:pathLst>
              <a:path h="4563065" w="4563065">
                <a:moveTo>
                  <a:pt x="0" y="0"/>
                </a:moveTo>
                <a:lnTo>
                  <a:pt x="4563065" y="0"/>
                </a:lnTo>
                <a:lnTo>
                  <a:pt x="4563065" y="4563065"/>
                </a:lnTo>
                <a:lnTo>
                  <a:pt x="0" y="456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67428"/>
            <a:ext cx="6359061" cy="170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3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ORGANISATION 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95751"/>
            <a:ext cx="7561002" cy="462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Founded by IIT Delhi researchers, Carnot Research Pvt. Ltd. is a deep-tech company specializing in production-grade Generative AI, Computer Vision, and NLP. Carnot builds 100% on-premise, cloud-independent AI systems that ensure full data sovereignty for mission-critical environments. These research-driven solutions operate securely in air-gapped infrastructures without external data exposure. Serving defense, government, and critical enterprise sectors, Carnot is CMMI Level 3 and ISO 27001 certified, and trusted by the NSG, IIT Delhi, and BCG.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09940"/>
            <a:ext cx="756100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i="true" b="true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Carnot Research Pvt Ltd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1329" y="1574413"/>
            <a:ext cx="15889862" cy="8712587"/>
          </a:xfrm>
          <a:custGeom>
            <a:avLst/>
            <a:gdLst/>
            <a:ahLst/>
            <a:cxnLst/>
            <a:rect r="r" b="b" t="t" l="l"/>
            <a:pathLst>
              <a:path h="8712587" w="15889862">
                <a:moveTo>
                  <a:pt x="0" y="0"/>
                </a:moveTo>
                <a:lnTo>
                  <a:pt x="15889862" y="0"/>
                </a:lnTo>
                <a:lnTo>
                  <a:pt x="15889862" y="8712587"/>
                </a:lnTo>
                <a:lnTo>
                  <a:pt x="0" y="871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" r="0" b="-3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7721" y="399750"/>
            <a:ext cx="16263469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MY WORK AT CARNOT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25912"/>
            <a:ext cx="18288000" cy="10035175"/>
          </a:xfrm>
          <a:custGeom>
            <a:avLst/>
            <a:gdLst/>
            <a:ahLst/>
            <a:cxnLst/>
            <a:rect r="r" b="b" t="t" l="l"/>
            <a:pathLst>
              <a:path h="10035175" w="18288000">
                <a:moveTo>
                  <a:pt x="0" y="0"/>
                </a:moveTo>
                <a:lnTo>
                  <a:pt x="18288000" y="0"/>
                </a:lnTo>
                <a:lnTo>
                  <a:pt x="18288000" y="10035176"/>
                </a:lnTo>
                <a:lnTo>
                  <a:pt x="0" y="10035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18912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5066" y="1389557"/>
            <a:ext cx="15978677" cy="8767980"/>
          </a:xfrm>
          <a:custGeom>
            <a:avLst/>
            <a:gdLst/>
            <a:ahLst/>
            <a:cxnLst/>
            <a:rect r="r" b="b" t="t" l="l"/>
            <a:pathLst>
              <a:path h="8767980" w="15978677">
                <a:moveTo>
                  <a:pt x="0" y="0"/>
                </a:moveTo>
                <a:lnTo>
                  <a:pt x="15978676" y="0"/>
                </a:lnTo>
                <a:lnTo>
                  <a:pt x="15978676" y="8767981"/>
                </a:lnTo>
                <a:lnTo>
                  <a:pt x="0" y="8767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5066" y="204476"/>
            <a:ext cx="16804234" cy="118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0"/>
              </a:lnSpc>
            </a:pPr>
            <a:r>
              <a:rPr lang="en-US" sz="67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TECH STACK I USED AT CARNOT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82434" y="5743230"/>
            <a:ext cx="9435586" cy="4274192"/>
          </a:xfrm>
          <a:custGeom>
            <a:avLst/>
            <a:gdLst/>
            <a:ahLst/>
            <a:cxnLst/>
            <a:rect r="r" b="b" t="t" l="l"/>
            <a:pathLst>
              <a:path h="4274192" w="9435586">
                <a:moveTo>
                  <a:pt x="0" y="0"/>
                </a:moveTo>
                <a:lnTo>
                  <a:pt x="9435586" y="0"/>
                </a:lnTo>
                <a:lnTo>
                  <a:pt x="9435586" y="4274192"/>
                </a:lnTo>
                <a:lnTo>
                  <a:pt x="0" y="4274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57250"/>
            <a:ext cx="13144962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WHAT I LEARNED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3900" y="2863064"/>
            <a:ext cx="14758931" cy="288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6"/>
              </a:lnSpc>
            </a:pPr>
            <a:r>
              <a:rPr lang="en-US" sz="219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During my time at Carnot Research, I learned how to take AI systems from research and experimentation to production. I gained hands-on experience in LLM evaluation, RAG, OCR, ETL pipelines, intelligent agents, NLU, email and calendar automation, benchmarking, testing, debugging, and on-premise optimization. I learned to design modular architectures, handle real-world edge cases, improve accuracy and latency, integrate large codebases, and collaborate with senior teams to turn POCs into reliable, production-ready systems.</a:t>
            </a:r>
          </a:p>
          <a:p>
            <a:pPr algn="just">
              <a:lnSpc>
                <a:spcPts val="385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420037"/>
            <a:ext cx="13629906" cy="272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32"/>
              </a:lnSpc>
            </a:pPr>
            <a:r>
              <a:rPr lang="en-US" sz="1564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DAHUOMQfay8</dc:identifier>
  <dcterms:modified xsi:type="dcterms:W3CDTF">2011-08-01T06:04:30Z</dcterms:modified>
  <cp:revision>1</cp:revision>
  <dc:title>Blue and Beige Simple Project Proposal Presentation</dc:title>
</cp:coreProperties>
</file>